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00249" y="4155017"/>
            <a:ext cx="13687502" cy="13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9"/>
              </a:lnSpc>
            </a:pPr>
            <a:r>
              <a:rPr lang="en-US" b="true" sz="7299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TEORIA DOS GRAFOS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3438" y="820738"/>
            <a:ext cx="1517659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00249" y="5204883"/>
            <a:ext cx="13687502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</a:t>
            </a:r>
            <a:r>
              <a:rPr lang="en-US" b="true" sz="3999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E DE ESTRUTURAS E ORDENAÇÃO TOPOLÓGICA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7136" y="1972049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30760" y="3402330"/>
            <a:ext cx="10426480" cy="340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Desenvolver uma biblioteca de grafos em C++ capaz de: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Representar grafos direcionados e não direcionados;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Manipular vértices e arestas;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Realizar consultas estruturais;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Executar Ordenação Topológica em grafos acíclicos direcionados (DAGs).</a:t>
            </a:r>
          </a:p>
          <a:p>
            <a:pPr algn="l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03340" y="3779070"/>
            <a:ext cx="7240660" cy="3251793"/>
          </a:xfrm>
          <a:custGeom>
            <a:avLst/>
            <a:gdLst/>
            <a:ahLst/>
            <a:cxnLst/>
            <a:rect r="r" b="b" t="t" l="l"/>
            <a:pathLst>
              <a:path h="3251793" w="7240660">
                <a:moveTo>
                  <a:pt x="0" y="0"/>
                </a:moveTo>
                <a:lnTo>
                  <a:pt x="7240660" y="0"/>
                </a:lnTo>
                <a:lnTo>
                  <a:pt x="7240660" y="3251793"/>
                </a:lnTo>
                <a:lnTo>
                  <a:pt x="0" y="325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7136" y="1972049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Matriz de Adjacência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7860" y="3702870"/>
            <a:ext cx="5579035" cy="340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Vantagens: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onsulta rápida de arestas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strutura simples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Fácil cál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culo de graus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Boa integração com o algoritmo de Kahn</a:t>
            </a:r>
          </a:p>
          <a:p>
            <a:pPr algn="l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17307" y="3637998"/>
            <a:ext cx="4000335" cy="3011005"/>
          </a:xfrm>
          <a:custGeom>
            <a:avLst/>
            <a:gdLst/>
            <a:ahLst/>
            <a:cxnLst/>
            <a:rect r="r" b="b" t="t" l="l"/>
            <a:pathLst>
              <a:path h="3011005" w="4000335">
                <a:moveTo>
                  <a:pt x="0" y="0"/>
                </a:moveTo>
                <a:lnTo>
                  <a:pt x="4000335" y="0"/>
                </a:lnTo>
                <a:lnTo>
                  <a:pt x="4000335" y="3011004"/>
                </a:lnTo>
                <a:lnTo>
                  <a:pt x="0" y="3011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409" y="2012161"/>
            <a:ext cx="14869182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Problema: dependência entre tarefas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409" y="3888105"/>
            <a:ext cx="4327494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Exemplo: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Imagine que algumas tarefas dependem de out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51097" y="3888105"/>
            <a:ext cx="4327494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n-US" b="true" sz="2774">
                <a:solidFill>
                  <a:srgbClr val="750049"/>
                </a:solidFill>
                <a:latin typeface="Poppins Bold"/>
                <a:ea typeface="Poppins Bold"/>
                <a:cs typeface="Poppins Bold"/>
                <a:sym typeface="Poppins Bold"/>
              </a:rPr>
              <a:t>Como determinar automaticamente uma ordem válida para executar tarefas dependentes?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36390" y="3783030"/>
            <a:ext cx="3564876" cy="3418375"/>
          </a:xfrm>
          <a:custGeom>
            <a:avLst/>
            <a:gdLst/>
            <a:ahLst/>
            <a:cxnLst/>
            <a:rect r="r" b="b" t="t" l="l"/>
            <a:pathLst>
              <a:path h="3418375" w="3564876">
                <a:moveTo>
                  <a:pt x="0" y="0"/>
                </a:moveTo>
                <a:lnTo>
                  <a:pt x="3564877" y="0"/>
                </a:lnTo>
                <a:lnTo>
                  <a:pt x="3564877" y="3418375"/>
                </a:lnTo>
                <a:lnTo>
                  <a:pt x="0" y="3418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63818" y="1744857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Ordenação Topológica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8940" y="3009395"/>
            <a:ext cx="853149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74">
                <a:solidFill>
                  <a:srgbClr val="750049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Transformando o problema em um grafo: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86153" y="4373880"/>
            <a:ext cx="693907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 ordenação topológica encontra uma sequência válida para executa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 os vértices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190" y="6073785"/>
            <a:ext cx="6952226" cy="6551973"/>
          </a:xfrm>
          <a:custGeom>
            <a:avLst/>
            <a:gdLst/>
            <a:ahLst/>
            <a:cxnLst/>
            <a:rect r="r" b="b" t="t" l="l"/>
            <a:pathLst>
              <a:path h="6551973" w="6952226">
                <a:moveTo>
                  <a:pt x="0" y="0"/>
                </a:moveTo>
                <a:lnTo>
                  <a:pt x="6952226" y="0"/>
                </a:lnTo>
                <a:lnTo>
                  <a:pt x="6952226" y="6551973"/>
                </a:lnTo>
                <a:lnTo>
                  <a:pt x="0" y="6551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7136" y="1972049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Algoritmo de Kahn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83959" y="3808087"/>
            <a:ext cx="7703434" cy="340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Funcionamento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Calcular grau de 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entrada dos vértices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Ins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erir na fila vértices com grau 0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Remover vértice da fila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Atualizar os graus dos vizinhos</a:t>
            </a:r>
          </a:p>
          <a:p>
            <a:pPr algn="l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epetir até a fila ficar vazia</a:t>
            </a:r>
          </a:p>
          <a:p>
            <a:pPr algn="l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609400" y="4086217"/>
            <a:ext cx="2671372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Complexi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dade</a:t>
            </a:r>
          </a:p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O(V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 + E)</a:t>
            </a:r>
          </a:p>
          <a:p>
            <a:pPr algn="ctr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RODUÇÃO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6646" y="1049682"/>
            <a:ext cx="2107693" cy="2391708"/>
          </a:xfrm>
          <a:custGeom>
            <a:avLst/>
            <a:gdLst/>
            <a:ahLst/>
            <a:cxnLst/>
            <a:rect r="r" b="b" t="t" l="l"/>
            <a:pathLst>
              <a:path h="2391708" w="2107693">
                <a:moveTo>
                  <a:pt x="0" y="0"/>
                </a:moveTo>
                <a:lnTo>
                  <a:pt x="2107693" y="0"/>
                </a:lnTo>
                <a:lnTo>
                  <a:pt x="2107693" y="2391708"/>
                </a:lnTo>
                <a:lnTo>
                  <a:pt x="0" y="2391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95476" y="6650485"/>
            <a:ext cx="1980280" cy="2312280"/>
          </a:xfrm>
          <a:custGeom>
            <a:avLst/>
            <a:gdLst/>
            <a:ahLst/>
            <a:cxnLst/>
            <a:rect r="r" b="b" t="t" l="l"/>
            <a:pathLst>
              <a:path h="2312280" w="1980280">
                <a:moveTo>
                  <a:pt x="0" y="0"/>
                </a:moveTo>
                <a:lnTo>
                  <a:pt x="1980280" y="0"/>
                </a:lnTo>
                <a:lnTo>
                  <a:pt x="1980280" y="2312280"/>
                </a:lnTo>
                <a:lnTo>
                  <a:pt x="0" y="231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80164" y="4313880"/>
            <a:ext cx="7741866" cy="2695466"/>
          </a:xfrm>
          <a:custGeom>
            <a:avLst/>
            <a:gdLst/>
            <a:ahLst/>
            <a:cxnLst/>
            <a:rect r="r" b="b" t="t" l="l"/>
            <a:pathLst>
              <a:path h="2695466" w="7741866">
                <a:moveTo>
                  <a:pt x="0" y="0"/>
                </a:moveTo>
                <a:lnTo>
                  <a:pt x="7741866" y="0"/>
                </a:lnTo>
                <a:lnTo>
                  <a:pt x="7741866" y="2695467"/>
                </a:lnTo>
                <a:lnTo>
                  <a:pt x="0" y="2695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b="true" sz="1925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ARQU</a:t>
            </a:r>
            <a:r>
              <a:rPr lang="en-US" b="true" sz="1925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ITETURA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RODUÇÃO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07136" y="1623932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Funcionalidades e Testes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046" y="3365190"/>
            <a:ext cx="7740980" cy="486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4"/>
              </a:lnSpc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Operações Implementadas</a:t>
            </a:r>
          </a:p>
          <a:p>
            <a:pPr algn="just" marL="599119" indent="-299560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Inserção de vértices</a:t>
            </a:r>
          </a:p>
          <a:p>
            <a:pPr algn="just" marL="599119" indent="-299560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serção de 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arestas</a:t>
            </a:r>
          </a:p>
          <a:p>
            <a:pPr algn="just" marL="599119" indent="-299560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emoção de vé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rtices</a:t>
            </a:r>
          </a:p>
          <a:p>
            <a:pPr algn="just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Remoção de a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rest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</a:p>
          <a:p>
            <a:pPr algn="just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Alter</a:t>
            </a: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ação de pesos</a:t>
            </a:r>
          </a:p>
          <a:p>
            <a:pPr algn="just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Verificação de adjacência</a:t>
            </a:r>
          </a:p>
          <a:p>
            <a:pPr algn="just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Listagem de vizinhos</a:t>
            </a:r>
          </a:p>
          <a:p>
            <a:pPr algn="just" marL="599119" indent="-299560" lvl="1">
              <a:lnSpc>
                <a:spcPts val="3884"/>
              </a:lnSpc>
              <a:spcBef>
                <a:spcPct val="0"/>
              </a:spcBef>
              <a:buFont typeface="Arial"/>
              <a:buChar char="•"/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Ordenação Topológica</a:t>
            </a:r>
          </a:p>
          <a:p>
            <a:pPr algn="just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029417" y="3604053"/>
            <a:ext cx="673775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Validação: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6646" y="1049682"/>
            <a:ext cx="2107693" cy="2391708"/>
          </a:xfrm>
          <a:custGeom>
            <a:avLst/>
            <a:gdLst/>
            <a:ahLst/>
            <a:cxnLst/>
            <a:rect r="r" b="b" t="t" l="l"/>
            <a:pathLst>
              <a:path h="2391708" w="2107693">
                <a:moveTo>
                  <a:pt x="0" y="0"/>
                </a:moveTo>
                <a:lnTo>
                  <a:pt x="2107693" y="0"/>
                </a:lnTo>
                <a:lnTo>
                  <a:pt x="2107693" y="2391708"/>
                </a:lnTo>
                <a:lnTo>
                  <a:pt x="0" y="2391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95476" y="6650485"/>
            <a:ext cx="1980280" cy="2312280"/>
          </a:xfrm>
          <a:custGeom>
            <a:avLst/>
            <a:gdLst/>
            <a:ahLst/>
            <a:cxnLst/>
            <a:rect r="r" b="b" t="t" l="l"/>
            <a:pathLst>
              <a:path h="2312280" w="1980280">
                <a:moveTo>
                  <a:pt x="0" y="0"/>
                </a:moveTo>
                <a:lnTo>
                  <a:pt x="1980280" y="0"/>
                </a:lnTo>
                <a:lnTo>
                  <a:pt x="1980280" y="2312280"/>
                </a:lnTo>
                <a:lnTo>
                  <a:pt x="0" y="231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689596" y="1961691"/>
            <a:ext cx="10128353" cy="7296609"/>
          </a:xfrm>
          <a:custGeom>
            <a:avLst/>
            <a:gdLst/>
            <a:ahLst/>
            <a:cxnLst/>
            <a:rect r="r" b="b" t="t" l="l"/>
            <a:pathLst>
              <a:path h="7296609" w="10128353">
                <a:moveTo>
                  <a:pt x="0" y="0"/>
                </a:moveTo>
                <a:lnTo>
                  <a:pt x="10128353" y="0"/>
                </a:lnTo>
                <a:lnTo>
                  <a:pt x="10128353" y="7296609"/>
                </a:lnTo>
                <a:lnTo>
                  <a:pt x="0" y="7296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b="true" sz="1925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ARQU</a:t>
            </a:r>
            <a:r>
              <a:rPr lang="en-US" b="true" sz="1925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ITETURA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RODUÇÃO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642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CONCLUSÃ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3189" y="1953927"/>
            <a:ext cx="5558881" cy="177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6"/>
              </a:lnSpc>
            </a:pPr>
            <a:r>
              <a:rPr lang="en-US" sz="49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Complexidade dos Algoritmos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189" y="4192256"/>
            <a:ext cx="5558881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 utilização da matriz de adjacência permite consultas rápidas de arestas, enquanto a Ordenação Topológica possui custo linear em relação ao número de vértices e arestas do grafo.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6646" y="1049682"/>
            <a:ext cx="2107693" cy="2391708"/>
          </a:xfrm>
          <a:custGeom>
            <a:avLst/>
            <a:gdLst/>
            <a:ahLst/>
            <a:cxnLst/>
            <a:rect r="r" b="b" t="t" l="l"/>
            <a:pathLst>
              <a:path h="2391708" w="2107693">
                <a:moveTo>
                  <a:pt x="0" y="0"/>
                </a:moveTo>
                <a:lnTo>
                  <a:pt x="2107693" y="0"/>
                </a:lnTo>
                <a:lnTo>
                  <a:pt x="2107693" y="2391708"/>
                </a:lnTo>
                <a:lnTo>
                  <a:pt x="0" y="2391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95476" y="6650485"/>
            <a:ext cx="1980280" cy="2312280"/>
          </a:xfrm>
          <a:custGeom>
            <a:avLst/>
            <a:gdLst/>
            <a:ahLst/>
            <a:cxnLst/>
            <a:rect r="r" b="b" t="t" l="l"/>
            <a:pathLst>
              <a:path h="2312280" w="1980280">
                <a:moveTo>
                  <a:pt x="0" y="0"/>
                </a:moveTo>
                <a:lnTo>
                  <a:pt x="1980280" y="0"/>
                </a:lnTo>
                <a:lnTo>
                  <a:pt x="1980280" y="2312280"/>
                </a:lnTo>
                <a:lnTo>
                  <a:pt x="0" y="231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RODUÇÃO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7372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07136" y="1623932"/>
            <a:ext cx="11073728" cy="110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6090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Dificuldades Encontradas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047" y="2951159"/>
            <a:ext cx="7740980" cy="340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4"/>
              </a:lnSpc>
              <a:spcBef>
                <a:spcPct val="0"/>
              </a:spcBef>
            </a:pPr>
            <a:r>
              <a:rPr lang="en-US" b="true" sz="2774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Grafos direcionados e não direcionados</a:t>
            </a:r>
          </a:p>
          <a:p>
            <a:pPr algn="just">
              <a:lnSpc>
                <a:spcPts val="3884"/>
              </a:lnSpc>
              <a:spcBef>
                <a:spcPct val="0"/>
              </a:spcBef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Adaptar as operações para comportamentos diferentes sem duplicar código desnecessariamente</a:t>
            </a:r>
          </a:p>
          <a:p>
            <a:pPr algn="just">
              <a:lnSpc>
                <a:spcPts val="3884"/>
              </a:lnSpc>
              <a:spcBef>
                <a:spcPct val="0"/>
              </a:spcBef>
            </a:pPr>
          </a:p>
          <a:p>
            <a:pPr algn="just">
              <a:lnSpc>
                <a:spcPts val="3884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2951159"/>
            <a:ext cx="7740980" cy="340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4"/>
              </a:lnSpc>
            </a:pPr>
            <a:r>
              <a:rPr lang="en-US" sz="2774" b="true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Remoção de vértices</a:t>
            </a:r>
          </a:p>
          <a:p>
            <a:pPr algn="just">
              <a:lnSpc>
                <a:spcPts val="3884"/>
              </a:lnSpc>
            </a:pPr>
            <a:r>
              <a:rPr lang="en-US" sz="2774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Atualizar corretamente todas as conexões associadas ao vértice removido.</a:t>
            </a:r>
          </a:p>
          <a:p>
            <a:pPr algn="just">
              <a:lnSpc>
                <a:spcPts val="3884"/>
              </a:lnSpc>
            </a:pPr>
          </a:p>
          <a:p>
            <a:pPr algn="just">
              <a:lnSpc>
                <a:spcPts val="3884"/>
              </a:lnSpc>
            </a:pPr>
          </a:p>
          <a:p>
            <a:pPr algn="just">
              <a:lnSpc>
                <a:spcPts val="3884"/>
              </a:lnSpc>
              <a:spcBef>
                <a:spcPct val="0"/>
              </a:spcBef>
            </a:pPr>
          </a:p>
          <a:p>
            <a:pPr algn="just">
              <a:lnSpc>
                <a:spcPts val="388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496958"/>
            <a:ext cx="15856280" cy="19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7"/>
              </a:lnSpc>
              <a:spcBef>
                <a:spcPct val="0"/>
              </a:spcBef>
            </a:pPr>
            <a:r>
              <a:rPr lang="en-US" b="true" sz="27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ORDENAÇÃO </a:t>
            </a:r>
            <a:r>
              <a:rPr lang="en-US" b="true" sz="27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TOPOLÓGICA</a:t>
            </a:r>
          </a:p>
          <a:p>
            <a:pPr algn="just">
              <a:lnSpc>
                <a:spcPts val="3877"/>
              </a:lnSpc>
              <a:spcBef>
                <a:spcPct val="0"/>
              </a:spcBef>
            </a:pPr>
            <a:r>
              <a:rPr lang="en-US" sz="27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GARANTIR QUE O ALGORITMO FUNCIONASSE APENAS PARA DAGS E DETECTASSE SITUAÇÕES COM CICLOS.</a:t>
            </a:r>
          </a:p>
          <a:p>
            <a:pPr algn="just">
              <a:lnSpc>
                <a:spcPts val="38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6661" y="3908144"/>
            <a:ext cx="6705448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5"/>
              </a:lnSpc>
            </a:pPr>
            <a:r>
              <a:rPr lang="en-US" b="true" sz="9075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77783" y="2175658"/>
            <a:ext cx="4820196" cy="50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Grupo:</a:t>
            </a:r>
          </a:p>
          <a:p>
            <a:pPr algn="l" marL="555647" indent="-277824" lvl="1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Luiz Fernando Ferreira Silva</a:t>
            </a:r>
          </a:p>
          <a:p>
            <a:pPr algn="l" marL="555647" indent="-277824" lvl="1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Matheus Carvalho Torres</a:t>
            </a:r>
          </a:p>
          <a:p>
            <a:pPr algn="l" marL="555647" indent="-277824" lvl="1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Ryan Carlos dos Reis Moreira</a:t>
            </a:r>
          </a:p>
          <a:p>
            <a:pPr algn="l" marL="555647" indent="-277824" lvl="1">
              <a:lnSpc>
                <a:spcPts val="3603"/>
              </a:lnSpc>
              <a:buFont typeface="Arial"/>
              <a:buChar char="•"/>
            </a:pPr>
            <a:r>
              <a:rPr lang="en-US" sz="2573">
                <a:solidFill>
                  <a:srgbClr val="010032"/>
                </a:solidFill>
                <a:latin typeface="Poppins"/>
                <a:ea typeface="Poppins"/>
                <a:cs typeface="Poppins"/>
                <a:sym typeface="Poppins"/>
              </a:rPr>
              <a:t>Vinícius Macuco L. Carvalhaes</a:t>
            </a:r>
          </a:p>
          <a:p>
            <a:pPr algn="l">
              <a:lnSpc>
                <a:spcPts val="3603"/>
              </a:lnSpc>
            </a:pPr>
          </a:p>
          <a:p>
            <a:pPr algn="l">
              <a:lnSpc>
                <a:spcPts val="3603"/>
              </a:lnSpc>
            </a:pPr>
          </a:p>
          <a:p>
            <a:pPr algn="l" marL="0" indent="0" lvl="0">
              <a:lnSpc>
                <a:spcPts val="360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897978" y="8909050"/>
            <a:ext cx="1361322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36"/>
              </a:lnSpc>
            </a:pPr>
            <a:r>
              <a:rPr lang="en-US" b="true" sz="17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6/6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68836" y="1036371"/>
            <a:ext cx="1932554" cy="2411924"/>
          </a:xfrm>
          <a:custGeom>
            <a:avLst/>
            <a:gdLst/>
            <a:ahLst/>
            <a:cxnLst/>
            <a:rect r="r" b="b" t="t" l="l"/>
            <a:pathLst>
              <a:path h="2411924" w="1932554">
                <a:moveTo>
                  <a:pt x="0" y="0"/>
                </a:moveTo>
                <a:lnTo>
                  <a:pt x="1932554" y="0"/>
                </a:lnTo>
                <a:lnTo>
                  <a:pt x="1932554" y="2411924"/>
                </a:lnTo>
                <a:lnTo>
                  <a:pt x="0" y="2411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7864" y="6265023"/>
            <a:ext cx="2996070" cy="3100281"/>
          </a:xfrm>
          <a:custGeom>
            <a:avLst/>
            <a:gdLst/>
            <a:ahLst/>
            <a:cxnLst/>
            <a:rect r="r" b="b" t="t" l="l"/>
            <a:pathLst>
              <a:path h="3100281" w="2996070">
                <a:moveTo>
                  <a:pt x="0" y="0"/>
                </a:moveTo>
                <a:lnTo>
                  <a:pt x="2996070" y="0"/>
                </a:lnTo>
                <a:lnTo>
                  <a:pt x="2996070" y="3100280"/>
                </a:lnTo>
                <a:lnTo>
                  <a:pt x="0" y="3100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ED7EF">
                    <a:alpha val="100000"/>
                  </a:srgbClr>
                </a:gs>
                <a:gs pos="100000">
                  <a:srgbClr val="B17FD6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24026" y="830263"/>
            <a:ext cx="1771539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</a:pP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</a:t>
            </a:r>
            <a:r>
              <a:rPr lang="en-US" sz="19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ITETURA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2070" y="820738"/>
            <a:ext cx="207408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RODUÇÃO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7847" y="820738"/>
            <a:ext cx="172467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</a:t>
            </a:r>
            <a:r>
              <a:rPr lang="en-US" b="true" sz="1998">
                <a:solidFill>
                  <a:srgbClr val="010032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718" y="8788995"/>
            <a:ext cx="5248352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TRABALHO PODE SER ENCONTRADO EM: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0652" y="8788995"/>
            <a:ext cx="6100445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  <a:spcBef>
                <a:spcPct val="0"/>
              </a:spcBef>
            </a:pPr>
            <a:r>
              <a:rPr lang="en-US" sz="1998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HTTPS://GITHUB.COM/L-FFS/GRAPH-TOOLBOX.GIT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DAHKVSFS1Ec</dc:identifier>
  <dcterms:modified xsi:type="dcterms:W3CDTF">2011-08-01T06:04:30Z</dcterms:modified>
  <cp:revision>1</cp:revision>
  <dc:title>Trabalho Prático 1: Estruturas de Representação e Algoritmos Básicos</dc:title>
</cp:coreProperties>
</file>