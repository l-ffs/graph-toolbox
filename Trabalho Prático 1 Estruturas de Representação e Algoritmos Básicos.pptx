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Poppins Bold" charset="1" panose="00000800000000000000"/>
      <p:regular r:id="rId17"/>
    </p:embeddedFont>
    <p:embeddedFont>
      <p:font typeface="Poppins" charset="1" panose="0000050000000000000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4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6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Relationship Id="rId4" Target="../media/image10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7ED7EF">
                    <a:alpha val="100000"/>
                  </a:srgbClr>
                </a:gs>
                <a:gs pos="100000">
                  <a:srgbClr val="B17FD6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2300249" y="4155017"/>
            <a:ext cx="13687502" cy="1319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219"/>
              </a:lnSpc>
            </a:pPr>
            <a:r>
              <a:rPr lang="en-US" b="true" sz="7299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TEORIA DOS GRAFOS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624026" y="830263"/>
            <a:ext cx="1771539" cy="332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95"/>
              </a:lnSpc>
            </a:pP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ARQU</a:t>
            </a: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ITETURA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212070" y="820738"/>
            <a:ext cx="2074084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INT</a:t>
            </a: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RODUÇÃO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733438" y="820738"/>
            <a:ext cx="1517659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ALGORIT</a:t>
            </a: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2557378" y="-20781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300249" y="5204883"/>
            <a:ext cx="13687502" cy="717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599"/>
              </a:lnSpc>
            </a:pPr>
            <a:r>
              <a:rPr lang="en-US" b="true" sz="3999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ANÁLIS</a:t>
            </a:r>
            <a:r>
              <a:rPr lang="en-US" b="true" sz="3999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E DE ESTRUTURAS E ORDENAÇÃO TOPOLÓGICA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493190" y="6073785"/>
            <a:ext cx="6952226" cy="6551973"/>
          </a:xfrm>
          <a:custGeom>
            <a:avLst/>
            <a:gdLst/>
            <a:ahLst/>
            <a:cxnLst/>
            <a:rect r="r" b="b" t="t" l="l"/>
            <a:pathLst>
              <a:path h="6551973" w="6952226">
                <a:moveTo>
                  <a:pt x="0" y="0"/>
                </a:moveTo>
                <a:lnTo>
                  <a:pt x="6952226" y="0"/>
                </a:lnTo>
                <a:lnTo>
                  <a:pt x="6952226" y="6551973"/>
                </a:lnTo>
                <a:lnTo>
                  <a:pt x="0" y="65519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93190" y="6073785"/>
            <a:ext cx="6952226" cy="6551973"/>
          </a:xfrm>
          <a:custGeom>
            <a:avLst/>
            <a:gdLst/>
            <a:ahLst/>
            <a:cxnLst/>
            <a:rect r="r" b="b" t="t" l="l"/>
            <a:pathLst>
              <a:path h="6551973" w="6952226">
                <a:moveTo>
                  <a:pt x="0" y="0"/>
                </a:moveTo>
                <a:lnTo>
                  <a:pt x="6952226" y="0"/>
                </a:lnTo>
                <a:lnTo>
                  <a:pt x="6952226" y="6551973"/>
                </a:lnTo>
                <a:lnTo>
                  <a:pt x="0" y="65519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57378" y="-20781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607136" y="1972049"/>
            <a:ext cx="11073728" cy="1102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526"/>
              </a:lnSpc>
            </a:pPr>
            <a:r>
              <a:rPr lang="en-US" sz="6090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Objetivo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930760" y="3402330"/>
            <a:ext cx="10426480" cy="3406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84"/>
              </a:lnSpc>
              <a:spcBef>
                <a:spcPct val="0"/>
              </a:spcBef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Desenvolver uma biblioteca de grafos em C++ capaz de:</a:t>
            </a:r>
          </a:p>
          <a:p>
            <a:pPr algn="l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Representar grafos direcionados e não direcionados;</a:t>
            </a:r>
          </a:p>
          <a:p>
            <a:pPr algn="l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Manipular vértices e arestas;</a:t>
            </a:r>
          </a:p>
          <a:p>
            <a:pPr algn="l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Realizar consultas estruturais;</a:t>
            </a:r>
          </a:p>
          <a:p>
            <a:pPr algn="l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Executar Ordenação Topológica em grafos acíclicos direcionados (DAGs).</a:t>
            </a:r>
          </a:p>
          <a:p>
            <a:pPr algn="l" marL="0" indent="0" lvl="0">
              <a:lnSpc>
                <a:spcPts val="3884"/>
              </a:lnSpc>
              <a:spcBef>
                <a:spcPct val="0"/>
              </a:spcBef>
            </a:pPr>
          </a:p>
        </p:txBody>
      </p:sp>
      <p:grpSp>
        <p:nvGrpSpPr>
          <p:cNvPr name="Group 6" id="6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7ED7EF">
                    <a:alpha val="100000"/>
                  </a:srgbClr>
                </a:gs>
                <a:gs pos="100000">
                  <a:srgbClr val="B17FD6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8624026" y="830263"/>
            <a:ext cx="1771539" cy="332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95"/>
              </a:lnSpc>
            </a:pP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ARQU</a:t>
            </a: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ITETURA 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212070" y="820738"/>
            <a:ext cx="2074084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INT</a:t>
            </a: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RODUÇÃO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526422" y="820738"/>
            <a:ext cx="1724675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CONCLUSÃ</a:t>
            </a: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93190" y="6073785"/>
            <a:ext cx="6952226" cy="6551973"/>
          </a:xfrm>
          <a:custGeom>
            <a:avLst/>
            <a:gdLst/>
            <a:ahLst/>
            <a:cxnLst/>
            <a:rect r="r" b="b" t="t" l="l"/>
            <a:pathLst>
              <a:path h="6551973" w="6952226">
                <a:moveTo>
                  <a:pt x="0" y="0"/>
                </a:moveTo>
                <a:lnTo>
                  <a:pt x="6952226" y="0"/>
                </a:lnTo>
                <a:lnTo>
                  <a:pt x="6952226" y="6551973"/>
                </a:lnTo>
                <a:lnTo>
                  <a:pt x="0" y="65519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57378" y="-20781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903340" y="3779070"/>
            <a:ext cx="7240660" cy="3251793"/>
          </a:xfrm>
          <a:custGeom>
            <a:avLst/>
            <a:gdLst/>
            <a:ahLst/>
            <a:cxnLst/>
            <a:rect r="r" b="b" t="t" l="l"/>
            <a:pathLst>
              <a:path h="3251793" w="7240660">
                <a:moveTo>
                  <a:pt x="0" y="0"/>
                </a:moveTo>
                <a:lnTo>
                  <a:pt x="7240660" y="0"/>
                </a:lnTo>
                <a:lnTo>
                  <a:pt x="7240660" y="3251793"/>
                </a:lnTo>
                <a:lnTo>
                  <a:pt x="0" y="32517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607136" y="1972049"/>
            <a:ext cx="11073728" cy="1102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526"/>
              </a:lnSpc>
            </a:pPr>
            <a:r>
              <a:rPr lang="en-US" sz="6090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Matriz de Adjacência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767860" y="3702870"/>
            <a:ext cx="5579035" cy="3406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84"/>
              </a:lnSpc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Vantagens:</a:t>
            </a:r>
          </a:p>
          <a:p>
            <a:pPr algn="l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onsulta rápida de arestas</a:t>
            </a:r>
          </a:p>
          <a:p>
            <a:pPr algn="l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E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strutura simples</a:t>
            </a:r>
          </a:p>
          <a:p>
            <a:pPr algn="l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Fácil cál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culo de graus</a:t>
            </a:r>
          </a:p>
          <a:p>
            <a:pPr algn="l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Boa integração com o algoritmo de Kahn</a:t>
            </a:r>
          </a:p>
          <a:p>
            <a:pPr algn="l" marL="0" indent="0" lvl="0">
              <a:lnSpc>
                <a:spcPts val="3884"/>
              </a:lnSpc>
              <a:spcBef>
                <a:spcPct val="0"/>
              </a:spcBef>
            </a:pPr>
          </a:p>
        </p:txBody>
      </p:sp>
      <p:grpSp>
        <p:nvGrpSpPr>
          <p:cNvPr name="Group 7" id="7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7ED7EF">
                    <a:alpha val="100000"/>
                  </a:srgbClr>
                </a:gs>
                <a:gs pos="100000">
                  <a:srgbClr val="B17FD6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8624026" y="830263"/>
            <a:ext cx="1771539" cy="332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95"/>
              </a:lnSpc>
            </a:pP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ARQU</a:t>
            </a: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ITETURA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212070" y="820738"/>
            <a:ext cx="2074084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INT</a:t>
            </a: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RODUÇÃO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526422" y="820738"/>
            <a:ext cx="1724675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CONCLUSÃ</a:t>
            </a: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93190" y="6073785"/>
            <a:ext cx="6952226" cy="6551973"/>
          </a:xfrm>
          <a:custGeom>
            <a:avLst/>
            <a:gdLst/>
            <a:ahLst/>
            <a:cxnLst/>
            <a:rect r="r" b="b" t="t" l="l"/>
            <a:pathLst>
              <a:path h="6551973" w="6952226">
                <a:moveTo>
                  <a:pt x="0" y="0"/>
                </a:moveTo>
                <a:lnTo>
                  <a:pt x="6952226" y="0"/>
                </a:lnTo>
                <a:lnTo>
                  <a:pt x="6952226" y="6551973"/>
                </a:lnTo>
                <a:lnTo>
                  <a:pt x="0" y="65519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57378" y="-20781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717307" y="3637998"/>
            <a:ext cx="4000335" cy="3011005"/>
          </a:xfrm>
          <a:custGeom>
            <a:avLst/>
            <a:gdLst/>
            <a:ahLst/>
            <a:cxnLst/>
            <a:rect r="r" b="b" t="t" l="l"/>
            <a:pathLst>
              <a:path h="3011005" w="4000335">
                <a:moveTo>
                  <a:pt x="0" y="0"/>
                </a:moveTo>
                <a:lnTo>
                  <a:pt x="4000335" y="0"/>
                </a:lnTo>
                <a:lnTo>
                  <a:pt x="4000335" y="3011004"/>
                </a:lnTo>
                <a:lnTo>
                  <a:pt x="0" y="30110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709409" y="2012161"/>
            <a:ext cx="14869182" cy="1102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526"/>
              </a:lnSpc>
            </a:pPr>
            <a:r>
              <a:rPr lang="en-US" sz="6090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Problema: dependência entre tarefas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09409" y="3888105"/>
            <a:ext cx="4327494" cy="2434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84"/>
              </a:lnSpc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Exemplo:</a:t>
            </a:r>
          </a:p>
          <a:p>
            <a:pPr algn="l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Imagine que algumas tarefas dependem de out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ra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251097" y="3888105"/>
            <a:ext cx="4327494" cy="2434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84"/>
              </a:lnSpc>
              <a:spcBef>
                <a:spcPct val="0"/>
              </a:spcBef>
            </a:pPr>
            <a:r>
              <a:rPr lang="en-US" b="true" sz="2774">
                <a:solidFill>
                  <a:srgbClr val="750049"/>
                </a:solidFill>
                <a:latin typeface="Poppins Bold"/>
                <a:ea typeface="Poppins Bold"/>
                <a:cs typeface="Poppins Bold"/>
                <a:sym typeface="Poppins Bold"/>
              </a:rPr>
              <a:t>Como determinar automaticamente uma ordem válida para executar tarefas dependentes?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7ED7EF">
                    <a:alpha val="100000"/>
                  </a:srgbClr>
                </a:gs>
                <a:gs pos="100000">
                  <a:srgbClr val="B17FD6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8624026" y="830263"/>
            <a:ext cx="1771539" cy="332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95"/>
              </a:lnSpc>
            </a:pP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ARQU</a:t>
            </a: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ITETURA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212070" y="820738"/>
            <a:ext cx="2074084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INT</a:t>
            </a: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RODUÇÃO 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526422" y="820738"/>
            <a:ext cx="1724675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CONCLUSÃ</a:t>
            </a: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93190" y="6073785"/>
            <a:ext cx="6952226" cy="6551973"/>
          </a:xfrm>
          <a:custGeom>
            <a:avLst/>
            <a:gdLst/>
            <a:ahLst/>
            <a:cxnLst/>
            <a:rect r="r" b="b" t="t" l="l"/>
            <a:pathLst>
              <a:path h="6551973" w="6952226">
                <a:moveTo>
                  <a:pt x="0" y="0"/>
                </a:moveTo>
                <a:lnTo>
                  <a:pt x="6952226" y="0"/>
                </a:lnTo>
                <a:lnTo>
                  <a:pt x="6952226" y="6551973"/>
                </a:lnTo>
                <a:lnTo>
                  <a:pt x="0" y="65519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57378" y="-20781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236390" y="3783030"/>
            <a:ext cx="3564876" cy="3418375"/>
          </a:xfrm>
          <a:custGeom>
            <a:avLst/>
            <a:gdLst/>
            <a:ahLst/>
            <a:cxnLst/>
            <a:rect r="r" b="b" t="t" l="l"/>
            <a:pathLst>
              <a:path h="3418375" w="3564876">
                <a:moveTo>
                  <a:pt x="0" y="0"/>
                </a:moveTo>
                <a:lnTo>
                  <a:pt x="3564877" y="0"/>
                </a:lnTo>
                <a:lnTo>
                  <a:pt x="3564877" y="3418375"/>
                </a:lnTo>
                <a:lnTo>
                  <a:pt x="0" y="34183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463818" y="1744857"/>
            <a:ext cx="11073728" cy="1102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526"/>
              </a:lnSpc>
            </a:pPr>
            <a:r>
              <a:rPr lang="en-US" sz="6090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Ordenação Topológica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648940" y="3009395"/>
            <a:ext cx="8531495" cy="491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774">
                <a:solidFill>
                  <a:srgbClr val="750049"/>
                </a:solidFill>
                <a:latin typeface="Poppins Bold"/>
                <a:ea typeface="Poppins Bold"/>
                <a:cs typeface="Poppins Bold"/>
                <a:sym typeface="Poppins Bold"/>
              </a:rPr>
              <a:t>Transformando o problema em um grafo: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286153" y="4373880"/>
            <a:ext cx="6939070" cy="1463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A ordenação topológica encontra uma sequência válida para executa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r os vértices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7ED7EF">
                    <a:alpha val="100000"/>
                  </a:srgbClr>
                </a:gs>
                <a:gs pos="100000">
                  <a:srgbClr val="B17FD6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8624026" y="830263"/>
            <a:ext cx="1771539" cy="332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95"/>
              </a:lnSpc>
            </a:pP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ARQU</a:t>
            </a: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ITETURA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212070" y="820738"/>
            <a:ext cx="2074084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INT</a:t>
            </a: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RODUÇÃO 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526422" y="820738"/>
            <a:ext cx="1724675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CONCLUSÃ</a:t>
            </a: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93190" y="6073785"/>
            <a:ext cx="6952226" cy="6551973"/>
          </a:xfrm>
          <a:custGeom>
            <a:avLst/>
            <a:gdLst/>
            <a:ahLst/>
            <a:cxnLst/>
            <a:rect r="r" b="b" t="t" l="l"/>
            <a:pathLst>
              <a:path h="6551973" w="6952226">
                <a:moveTo>
                  <a:pt x="0" y="0"/>
                </a:moveTo>
                <a:lnTo>
                  <a:pt x="6952226" y="0"/>
                </a:lnTo>
                <a:lnTo>
                  <a:pt x="6952226" y="6551973"/>
                </a:lnTo>
                <a:lnTo>
                  <a:pt x="0" y="65519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57378" y="-2078130"/>
            <a:ext cx="6987516" cy="4114800"/>
          </a:xfrm>
          <a:custGeom>
            <a:avLst/>
            <a:gdLst/>
            <a:ahLst/>
            <a:cxnLst/>
            <a:rect r="r" b="b" t="t" l="l"/>
            <a:pathLst>
              <a:path h="4114800" w="6987516">
                <a:moveTo>
                  <a:pt x="0" y="0"/>
                </a:moveTo>
                <a:lnTo>
                  <a:pt x="6987516" y="0"/>
                </a:lnTo>
                <a:lnTo>
                  <a:pt x="69875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607136" y="1972049"/>
            <a:ext cx="11073728" cy="1102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526"/>
              </a:lnSpc>
            </a:pPr>
            <a:r>
              <a:rPr lang="en-US" sz="6090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Algoritmo de Kahn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283959" y="3808087"/>
            <a:ext cx="7703434" cy="3406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84"/>
              </a:lnSpc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Funcionamento</a:t>
            </a:r>
          </a:p>
          <a:p>
            <a:pPr algn="l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Calcular grau de 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entrada dos vértices</a:t>
            </a:r>
          </a:p>
          <a:p>
            <a:pPr algn="l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Ins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erir na fila vértices com grau 0</a:t>
            </a:r>
          </a:p>
          <a:p>
            <a:pPr algn="l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Remover vértice da fila</a:t>
            </a:r>
          </a:p>
          <a:p>
            <a:pPr algn="l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Atualizar os graus dos vizinhos</a:t>
            </a:r>
          </a:p>
          <a:p>
            <a:pPr algn="l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R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epetir até a fila ficar vazia</a:t>
            </a:r>
          </a:p>
          <a:p>
            <a:pPr algn="l" marL="0" indent="0" lvl="0">
              <a:lnSpc>
                <a:spcPts val="3884"/>
              </a:lnSpc>
              <a:spcBef>
                <a:spcPct val="0"/>
              </a:spcBef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1609400" y="4086217"/>
            <a:ext cx="2671372" cy="1463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84"/>
              </a:lnSpc>
              <a:spcBef>
                <a:spcPct val="0"/>
              </a:spcBef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Complexi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dade</a:t>
            </a:r>
          </a:p>
          <a:p>
            <a:pPr algn="ctr">
              <a:lnSpc>
                <a:spcPts val="3884"/>
              </a:lnSpc>
              <a:spcBef>
                <a:spcPct val="0"/>
              </a:spcBef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O(V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 + E)</a:t>
            </a:r>
          </a:p>
          <a:p>
            <a:pPr algn="ctr" marL="0" indent="0" lvl="0">
              <a:lnSpc>
                <a:spcPts val="3884"/>
              </a:lnSpc>
              <a:spcBef>
                <a:spcPct val="0"/>
              </a:spcBef>
            </a:pPr>
          </a:p>
        </p:txBody>
      </p:sp>
      <p:grpSp>
        <p:nvGrpSpPr>
          <p:cNvPr name="Group 7" id="7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7ED7EF">
                    <a:alpha val="100000"/>
                  </a:srgbClr>
                </a:gs>
                <a:gs pos="100000">
                  <a:srgbClr val="B17FD6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8624026" y="830263"/>
            <a:ext cx="1771539" cy="332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95"/>
              </a:lnSpc>
            </a:pP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ARQU</a:t>
            </a: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ITETURA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212070" y="820738"/>
            <a:ext cx="2074084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INT</a:t>
            </a: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RODUÇÃO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526422" y="820738"/>
            <a:ext cx="1724675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CONCLUSÃ</a:t>
            </a: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056646" y="1049682"/>
            <a:ext cx="2107693" cy="2391708"/>
          </a:xfrm>
          <a:custGeom>
            <a:avLst/>
            <a:gdLst/>
            <a:ahLst/>
            <a:cxnLst/>
            <a:rect r="r" b="b" t="t" l="l"/>
            <a:pathLst>
              <a:path h="2391708" w="2107693">
                <a:moveTo>
                  <a:pt x="0" y="0"/>
                </a:moveTo>
                <a:lnTo>
                  <a:pt x="2107693" y="0"/>
                </a:lnTo>
                <a:lnTo>
                  <a:pt x="2107693" y="2391708"/>
                </a:lnTo>
                <a:lnTo>
                  <a:pt x="0" y="23917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295476" y="6650485"/>
            <a:ext cx="1980280" cy="2312280"/>
          </a:xfrm>
          <a:custGeom>
            <a:avLst/>
            <a:gdLst/>
            <a:ahLst/>
            <a:cxnLst/>
            <a:rect r="r" b="b" t="t" l="l"/>
            <a:pathLst>
              <a:path h="2312280" w="1980280">
                <a:moveTo>
                  <a:pt x="0" y="0"/>
                </a:moveTo>
                <a:lnTo>
                  <a:pt x="1980280" y="0"/>
                </a:lnTo>
                <a:lnTo>
                  <a:pt x="1980280" y="2312280"/>
                </a:lnTo>
                <a:lnTo>
                  <a:pt x="0" y="2312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7ED7EF">
                    <a:alpha val="100000"/>
                  </a:srgbClr>
                </a:gs>
                <a:gs pos="100000">
                  <a:srgbClr val="B17FD6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8380164" y="4313880"/>
            <a:ext cx="7741866" cy="2695466"/>
          </a:xfrm>
          <a:custGeom>
            <a:avLst/>
            <a:gdLst/>
            <a:ahLst/>
            <a:cxnLst/>
            <a:rect r="r" b="b" t="t" l="l"/>
            <a:pathLst>
              <a:path h="2695466" w="7741866">
                <a:moveTo>
                  <a:pt x="0" y="0"/>
                </a:moveTo>
                <a:lnTo>
                  <a:pt x="7741866" y="0"/>
                </a:lnTo>
                <a:lnTo>
                  <a:pt x="7741866" y="2695467"/>
                </a:lnTo>
                <a:lnTo>
                  <a:pt x="0" y="26954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8624026" y="830263"/>
            <a:ext cx="1771539" cy="332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95"/>
              </a:lnSpc>
            </a:pPr>
            <a:r>
              <a:rPr lang="en-US" b="true" sz="1925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ARQU</a:t>
            </a:r>
            <a:r>
              <a:rPr lang="en-US" b="true" sz="1925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ITETURA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212070" y="820738"/>
            <a:ext cx="2074084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INT</a:t>
            </a: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RODUÇÃO 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26422" y="820738"/>
            <a:ext cx="1724675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CONCLUSÃ</a:t>
            </a: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607136" y="1623932"/>
            <a:ext cx="11073728" cy="1102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526"/>
              </a:lnSpc>
            </a:pPr>
            <a:r>
              <a:rPr lang="en-US" sz="6090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Funcionalidades e Testes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83046" y="3365190"/>
            <a:ext cx="7740980" cy="4863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884"/>
              </a:lnSpc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Operações Implementadas</a:t>
            </a:r>
          </a:p>
          <a:p>
            <a:pPr algn="just" marL="599119" indent="-299560" lvl="1">
              <a:lnSpc>
                <a:spcPts val="3884"/>
              </a:lnSpc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Inserção de vértices</a:t>
            </a:r>
          </a:p>
          <a:p>
            <a:pPr algn="just" marL="599119" indent="-299560" lvl="1">
              <a:lnSpc>
                <a:spcPts val="3884"/>
              </a:lnSpc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In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serção de 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arestas</a:t>
            </a:r>
          </a:p>
          <a:p>
            <a:pPr algn="just" marL="599119" indent="-299560" lvl="1">
              <a:lnSpc>
                <a:spcPts val="3884"/>
              </a:lnSpc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R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emoção de vé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rtices</a:t>
            </a:r>
          </a:p>
          <a:p>
            <a:pPr algn="just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Remoção de a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rest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as</a:t>
            </a:r>
          </a:p>
          <a:p>
            <a:pPr algn="just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Alter</a:t>
            </a: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ação de pesos</a:t>
            </a:r>
          </a:p>
          <a:p>
            <a:pPr algn="just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Verificação de adjacência</a:t>
            </a:r>
          </a:p>
          <a:p>
            <a:pPr algn="just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Listagem de vizinhos</a:t>
            </a:r>
          </a:p>
          <a:p>
            <a:pPr algn="just" marL="599119" indent="-299560" lvl="1">
              <a:lnSpc>
                <a:spcPts val="3884"/>
              </a:lnSpc>
              <a:spcBef>
                <a:spcPct val="0"/>
              </a:spcBef>
              <a:buFont typeface="Arial"/>
              <a:buChar char="•"/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Ordenação Topológica</a:t>
            </a:r>
          </a:p>
          <a:p>
            <a:pPr algn="just" marL="0" indent="0" lvl="0">
              <a:lnSpc>
                <a:spcPts val="3884"/>
              </a:lnSpc>
              <a:spcBef>
                <a:spcPct val="0"/>
              </a:spcBef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9029417" y="3604053"/>
            <a:ext cx="6737753" cy="491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884"/>
              </a:lnSpc>
              <a:spcBef>
                <a:spcPct val="0"/>
              </a:spcBef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Validação: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056646" y="1049682"/>
            <a:ext cx="2107693" cy="2391708"/>
          </a:xfrm>
          <a:custGeom>
            <a:avLst/>
            <a:gdLst/>
            <a:ahLst/>
            <a:cxnLst/>
            <a:rect r="r" b="b" t="t" l="l"/>
            <a:pathLst>
              <a:path h="2391708" w="2107693">
                <a:moveTo>
                  <a:pt x="0" y="0"/>
                </a:moveTo>
                <a:lnTo>
                  <a:pt x="2107693" y="0"/>
                </a:lnTo>
                <a:lnTo>
                  <a:pt x="2107693" y="2391708"/>
                </a:lnTo>
                <a:lnTo>
                  <a:pt x="0" y="23917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295476" y="6650485"/>
            <a:ext cx="1980280" cy="2312280"/>
          </a:xfrm>
          <a:custGeom>
            <a:avLst/>
            <a:gdLst/>
            <a:ahLst/>
            <a:cxnLst/>
            <a:rect r="r" b="b" t="t" l="l"/>
            <a:pathLst>
              <a:path h="2312280" w="1980280">
                <a:moveTo>
                  <a:pt x="0" y="0"/>
                </a:moveTo>
                <a:lnTo>
                  <a:pt x="1980280" y="0"/>
                </a:lnTo>
                <a:lnTo>
                  <a:pt x="1980280" y="2312280"/>
                </a:lnTo>
                <a:lnTo>
                  <a:pt x="0" y="2312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7ED7EF">
                    <a:alpha val="100000"/>
                  </a:srgbClr>
                </a:gs>
                <a:gs pos="100000">
                  <a:srgbClr val="B17FD6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6689596" y="1961691"/>
            <a:ext cx="10128353" cy="7296609"/>
          </a:xfrm>
          <a:custGeom>
            <a:avLst/>
            <a:gdLst/>
            <a:ahLst/>
            <a:cxnLst/>
            <a:rect r="r" b="b" t="t" l="l"/>
            <a:pathLst>
              <a:path h="7296609" w="10128353">
                <a:moveTo>
                  <a:pt x="0" y="0"/>
                </a:moveTo>
                <a:lnTo>
                  <a:pt x="10128353" y="0"/>
                </a:lnTo>
                <a:lnTo>
                  <a:pt x="10128353" y="7296609"/>
                </a:lnTo>
                <a:lnTo>
                  <a:pt x="0" y="729660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8624026" y="830263"/>
            <a:ext cx="1771539" cy="332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95"/>
              </a:lnSpc>
            </a:pPr>
            <a:r>
              <a:rPr lang="en-US" b="true" sz="1925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ARQU</a:t>
            </a:r>
            <a:r>
              <a:rPr lang="en-US" b="true" sz="1925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ITETURA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212070" y="820738"/>
            <a:ext cx="2074084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INT</a:t>
            </a: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RODUÇÃO 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26422" y="820738"/>
            <a:ext cx="1724675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CONCLUSÃ</a:t>
            </a: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53189" y="1953927"/>
            <a:ext cx="5558881" cy="17782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86"/>
              </a:lnSpc>
            </a:pPr>
            <a:r>
              <a:rPr lang="en-US" sz="4990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Complexidade dos Algoritmos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53189" y="4192256"/>
            <a:ext cx="5558881" cy="3481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</a:pPr>
            <a:r>
              <a:rPr lang="en-US" sz="2799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A utilização da matriz de adjacência permite consultas rápidas de arestas, enquanto a Ordenação Topológica possui custo linear em relação ao número de vértices e arestas do grafo.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056646" y="1049682"/>
            <a:ext cx="2107693" cy="2391708"/>
          </a:xfrm>
          <a:custGeom>
            <a:avLst/>
            <a:gdLst/>
            <a:ahLst/>
            <a:cxnLst/>
            <a:rect r="r" b="b" t="t" l="l"/>
            <a:pathLst>
              <a:path h="2391708" w="2107693">
                <a:moveTo>
                  <a:pt x="0" y="0"/>
                </a:moveTo>
                <a:lnTo>
                  <a:pt x="2107693" y="0"/>
                </a:lnTo>
                <a:lnTo>
                  <a:pt x="2107693" y="2391708"/>
                </a:lnTo>
                <a:lnTo>
                  <a:pt x="0" y="23917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295476" y="6650485"/>
            <a:ext cx="1980280" cy="2312280"/>
          </a:xfrm>
          <a:custGeom>
            <a:avLst/>
            <a:gdLst/>
            <a:ahLst/>
            <a:cxnLst/>
            <a:rect r="r" b="b" t="t" l="l"/>
            <a:pathLst>
              <a:path h="2312280" w="1980280">
                <a:moveTo>
                  <a:pt x="0" y="0"/>
                </a:moveTo>
                <a:lnTo>
                  <a:pt x="1980280" y="0"/>
                </a:lnTo>
                <a:lnTo>
                  <a:pt x="1980280" y="2312280"/>
                </a:lnTo>
                <a:lnTo>
                  <a:pt x="0" y="2312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7ED7EF">
                    <a:alpha val="100000"/>
                  </a:srgbClr>
                </a:gs>
                <a:gs pos="100000">
                  <a:srgbClr val="B17FD6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8624026" y="830263"/>
            <a:ext cx="1771539" cy="332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95"/>
              </a:lnSpc>
            </a:pP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ARQU</a:t>
            </a: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ITETURA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212070" y="820738"/>
            <a:ext cx="2074084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INT</a:t>
            </a: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RODUÇÃO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507372" y="820738"/>
            <a:ext cx="1724675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CONCLUSÃ</a:t>
            </a: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O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607136" y="1623932"/>
            <a:ext cx="11073728" cy="1102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526"/>
              </a:lnSpc>
            </a:pPr>
            <a:r>
              <a:rPr lang="en-US" sz="6090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Dificuldades Encontradas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51047" y="2951159"/>
            <a:ext cx="7740980" cy="3406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884"/>
              </a:lnSpc>
              <a:spcBef>
                <a:spcPct val="0"/>
              </a:spcBef>
            </a:pPr>
            <a:r>
              <a:rPr lang="en-US" b="true" sz="2774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Grafos direcionados e não direcionados</a:t>
            </a:r>
          </a:p>
          <a:p>
            <a:pPr algn="just">
              <a:lnSpc>
                <a:spcPts val="3884"/>
              </a:lnSpc>
              <a:spcBef>
                <a:spcPct val="0"/>
              </a:spcBef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Adaptar as operações para comportamentos diferentes sem duplicar código desnecessariamente</a:t>
            </a:r>
          </a:p>
          <a:p>
            <a:pPr algn="just">
              <a:lnSpc>
                <a:spcPts val="3884"/>
              </a:lnSpc>
              <a:spcBef>
                <a:spcPct val="0"/>
              </a:spcBef>
            </a:pPr>
          </a:p>
          <a:p>
            <a:pPr algn="just">
              <a:lnSpc>
                <a:spcPts val="3884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3884"/>
              </a:lnSpc>
              <a:spcBef>
                <a:spcPct val="0"/>
              </a:spcBef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9144000" y="2951159"/>
            <a:ext cx="7740980" cy="3406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884"/>
              </a:lnSpc>
            </a:pPr>
            <a:r>
              <a:rPr lang="en-US" sz="2774" b="true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Remoção de vértices</a:t>
            </a:r>
          </a:p>
          <a:p>
            <a:pPr algn="just">
              <a:lnSpc>
                <a:spcPts val="3884"/>
              </a:lnSpc>
            </a:pPr>
            <a:r>
              <a:rPr lang="en-US" sz="277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Atualizar corretamente todas as conexões associadas ao vértice removido.</a:t>
            </a:r>
          </a:p>
          <a:p>
            <a:pPr algn="just">
              <a:lnSpc>
                <a:spcPts val="3884"/>
              </a:lnSpc>
            </a:pPr>
          </a:p>
          <a:p>
            <a:pPr algn="just">
              <a:lnSpc>
                <a:spcPts val="3884"/>
              </a:lnSpc>
            </a:pPr>
          </a:p>
          <a:p>
            <a:pPr algn="just">
              <a:lnSpc>
                <a:spcPts val="3884"/>
              </a:lnSpc>
              <a:spcBef>
                <a:spcPct val="0"/>
              </a:spcBef>
            </a:pPr>
          </a:p>
          <a:p>
            <a:pPr algn="just">
              <a:lnSpc>
                <a:spcPts val="3884"/>
              </a:lnSpc>
              <a:spcBef>
                <a:spcPct val="0"/>
              </a:spcBef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5496958"/>
            <a:ext cx="15856280" cy="19489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877"/>
              </a:lnSpc>
              <a:spcBef>
                <a:spcPct val="0"/>
              </a:spcBef>
            </a:pPr>
            <a:r>
              <a:rPr lang="en-US" b="true" sz="2769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ORDENAÇÃO </a:t>
            </a:r>
            <a:r>
              <a:rPr lang="en-US" b="true" sz="2769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TOPOLÓGICA</a:t>
            </a:r>
          </a:p>
          <a:p>
            <a:pPr algn="just">
              <a:lnSpc>
                <a:spcPts val="3877"/>
              </a:lnSpc>
              <a:spcBef>
                <a:spcPct val="0"/>
              </a:spcBef>
            </a:pPr>
            <a:r>
              <a:rPr lang="en-US" sz="276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GARANTIR QUE O ALGORITMO FUNCIONASSE APENAS PARA DAGS E DETECTASSE SITUAÇÕES COM CICLOS.</a:t>
            </a:r>
          </a:p>
          <a:p>
            <a:pPr algn="just">
              <a:lnSpc>
                <a:spcPts val="3877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96661" y="3908144"/>
            <a:ext cx="6705448" cy="1297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075"/>
              </a:lnSpc>
            </a:pPr>
            <a:r>
              <a:rPr lang="en-US" b="true" sz="9075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OBRIGADO!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1077783" y="2175658"/>
            <a:ext cx="4820196" cy="5040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3"/>
              </a:lnSpc>
            </a:pPr>
            <a:r>
              <a:rPr lang="en-US" sz="2573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Grupo:</a:t>
            </a:r>
          </a:p>
          <a:p>
            <a:pPr algn="l" marL="555647" indent="-277824" lvl="1">
              <a:lnSpc>
                <a:spcPts val="3603"/>
              </a:lnSpc>
              <a:buFont typeface="Arial"/>
              <a:buChar char="•"/>
            </a:pPr>
            <a:r>
              <a:rPr lang="en-US" sz="2573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Luiz Fernando Ferreira Silva</a:t>
            </a:r>
          </a:p>
          <a:p>
            <a:pPr algn="l" marL="555647" indent="-277824" lvl="1">
              <a:lnSpc>
                <a:spcPts val="3603"/>
              </a:lnSpc>
              <a:buFont typeface="Arial"/>
              <a:buChar char="•"/>
            </a:pPr>
            <a:r>
              <a:rPr lang="en-US" sz="2573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573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Matheus Carvalho Torres</a:t>
            </a:r>
          </a:p>
          <a:p>
            <a:pPr algn="l" marL="555647" indent="-277824" lvl="1">
              <a:lnSpc>
                <a:spcPts val="3603"/>
              </a:lnSpc>
              <a:buFont typeface="Arial"/>
              <a:buChar char="•"/>
            </a:pPr>
            <a:r>
              <a:rPr lang="en-US" sz="2573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Ryan Carlos dos Reis Moreira</a:t>
            </a:r>
          </a:p>
          <a:p>
            <a:pPr algn="l" marL="555647" indent="-277824" lvl="1">
              <a:lnSpc>
                <a:spcPts val="3603"/>
              </a:lnSpc>
              <a:buFont typeface="Arial"/>
              <a:buChar char="•"/>
            </a:pPr>
            <a:r>
              <a:rPr lang="en-US" sz="2573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Vinícius Macuco L. Carvalhaes</a:t>
            </a:r>
          </a:p>
          <a:p>
            <a:pPr algn="l">
              <a:lnSpc>
                <a:spcPts val="3603"/>
              </a:lnSpc>
            </a:pPr>
          </a:p>
          <a:p>
            <a:pPr algn="l">
              <a:lnSpc>
                <a:spcPts val="3603"/>
              </a:lnSpc>
            </a:pPr>
          </a:p>
          <a:p>
            <a:pPr algn="l" marL="0" indent="0" lvl="0">
              <a:lnSpc>
                <a:spcPts val="3603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5897978" y="8909050"/>
            <a:ext cx="1361322" cy="308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436"/>
              </a:lnSpc>
            </a:pPr>
            <a:r>
              <a:rPr lang="en-US" b="true" sz="174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6/6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-968836" y="1036371"/>
            <a:ext cx="1932554" cy="2411924"/>
          </a:xfrm>
          <a:custGeom>
            <a:avLst/>
            <a:gdLst/>
            <a:ahLst/>
            <a:cxnLst/>
            <a:rect r="r" b="b" t="t" l="l"/>
            <a:pathLst>
              <a:path h="2411924" w="1932554">
                <a:moveTo>
                  <a:pt x="0" y="0"/>
                </a:moveTo>
                <a:lnTo>
                  <a:pt x="1932554" y="0"/>
                </a:lnTo>
                <a:lnTo>
                  <a:pt x="1932554" y="2411924"/>
                </a:lnTo>
                <a:lnTo>
                  <a:pt x="0" y="24119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787864" y="6265023"/>
            <a:ext cx="2996070" cy="3100281"/>
          </a:xfrm>
          <a:custGeom>
            <a:avLst/>
            <a:gdLst/>
            <a:ahLst/>
            <a:cxnLst/>
            <a:rect r="r" b="b" t="t" l="l"/>
            <a:pathLst>
              <a:path h="3100281" w="2996070">
                <a:moveTo>
                  <a:pt x="0" y="0"/>
                </a:moveTo>
                <a:lnTo>
                  <a:pt x="2996070" y="0"/>
                </a:lnTo>
                <a:lnTo>
                  <a:pt x="2996070" y="3100280"/>
                </a:lnTo>
                <a:lnTo>
                  <a:pt x="0" y="3100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7ED7EF">
                    <a:alpha val="100000"/>
                  </a:srgbClr>
                </a:gs>
                <a:gs pos="100000">
                  <a:srgbClr val="B17FD6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8624026" y="830263"/>
            <a:ext cx="1771539" cy="332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95"/>
              </a:lnSpc>
            </a:pP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ARQU</a:t>
            </a: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ITETURA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212070" y="820738"/>
            <a:ext cx="2074084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INT</a:t>
            </a: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RODUÇÃO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497847" y="820738"/>
            <a:ext cx="1724675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CONCLUSÃ</a:t>
            </a: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63718" y="8788995"/>
            <a:ext cx="5248352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98"/>
              </a:lnSpc>
              <a:spcBef>
                <a:spcPct val="0"/>
              </a:spcBef>
            </a:pPr>
            <a:r>
              <a:rPr lang="en-US" sz="199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TRABALHO PODE SER ENCONTRADO EM: 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150652" y="8788995"/>
            <a:ext cx="6100445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  <a:spcBef>
                <a:spcPct val="0"/>
              </a:spcBef>
            </a:pPr>
            <a:r>
              <a:rPr lang="en-US" sz="1998" u="sng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HTTPS://GITHUB.COM/L-FFS/GRAPH-TOOLBOX.GIT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96661" y="3908144"/>
            <a:ext cx="7874390" cy="1297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075"/>
              </a:lnSpc>
            </a:pPr>
            <a:r>
              <a:rPr lang="en-US" b="true" sz="9075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REFERÊNCIAS 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144266" y="2225707"/>
            <a:ext cx="6170383" cy="58642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12"/>
              </a:lnSpc>
            </a:pPr>
          </a:p>
          <a:p>
            <a:pPr algn="l" marL="711290" indent="-355645" lvl="1">
              <a:lnSpc>
                <a:spcPts val="4612"/>
              </a:lnSpc>
              <a:buFont typeface="Arial"/>
              <a:buChar char="•"/>
            </a:pPr>
            <a:r>
              <a:rPr lang="en-US" sz="329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Material de aula</a:t>
            </a:r>
          </a:p>
          <a:p>
            <a:pPr algn="l" marL="711290" indent="-355645" lvl="1">
              <a:lnSpc>
                <a:spcPts val="4612"/>
              </a:lnSpc>
              <a:buFont typeface="Arial"/>
              <a:buChar char="•"/>
            </a:pPr>
            <a:r>
              <a:rPr lang="en-US" sz="329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Topological Sorting using BFS - Kahn's Algorithm (geeks for geeks)</a:t>
            </a:r>
          </a:p>
          <a:p>
            <a:pPr algn="l" marL="711290" indent="-355645" lvl="1">
              <a:lnSpc>
                <a:spcPts val="4612"/>
              </a:lnSpc>
              <a:buFont typeface="Arial"/>
              <a:buChar char="•"/>
            </a:pPr>
            <a:r>
              <a:rPr lang="en-US" sz="3294">
                <a:solidFill>
                  <a:srgbClr val="010032"/>
                </a:solidFill>
                <a:latin typeface="Poppins"/>
                <a:ea typeface="Poppins"/>
                <a:cs typeface="Poppins"/>
                <a:sym typeface="Poppins"/>
              </a:rPr>
              <a:t>O grupo usou LLMs para fazer correções no código</a:t>
            </a:r>
          </a:p>
          <a:p>
            <a:pPr algn="l">
              <a:lnSpc>
                <a:spcPts val="4612"/>
              </a:lnSpc>
            </a:pPr>
          </a:p>
          <a:p>
            <a:pPr algn="l">
              <a:lnSpc>
                <a:spcPts val="4612"/>
              </a:lnSpc>
            </a:pPr>
          </a:p>
          <a:p>
            <a:pPr algn="l" marL="0" indent="0" lvl="0">
              <a:lnSpc>
                <a:spcPts val="4612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5897978" y="8909050"/>
            <a:ext cx="1361322" cy="308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436"/>
              </a:lnSpc>
            </a:pPr>
            <a:r>
              <a:rPr lang="en-US" b="true" sz="174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6/6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-968836" y="1036371"/>
            <a:ext cx="1932554" cy="2411924"/>
          </a:xfrm>
          <a:custGeom>
            <a:avLst/>
            <a:gdLst/>
            <a:ahLst/>
            <a:cxnLst/>
            <a:rect r="r" b="b" t="t" l="l"/>
            <a:pathLst>
              <a:path h="2411924" w="1932554">
                <a:moveTo>
                  <a:pt x="0" y="0"/>
                </a:moveTo>
                <a:lnTo>
                  <a:pt x="1932554" y="0"/>
                </a:lnTo>
                <a:lnTo>
                  <a:pt x="1932554" y="2411924"/>
                </a:lnTo>
                <a:lnTo>
                  <a:pt x="0" y="24119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787864" y="6265023"/>
            <a:ext cx="2996070" cy="3100281"/>
          </a:xfrm>
          <a:custGeom>
            <a:avLst/>
            <a:gdLst/>
            <a:ahLst/>
            <a:cxnLst/>
            <a:rect r="r" b="b" t="t" l="l"/>
            <a:pathLst>
              <a:path h="3100281" w="2996070">
                <a:moveTo>
                  <a:pt x="0" y="0"/>
                </a:moveTo>
                <a:lnTo>
                  <a:pt x="2996070" y="0"/>
                </a:lnTo>
                <a:lnTo>
                  <a:pt x="2996070" y="3100280"/>
                </a:lnTo>
                <a:lnTo>
                  <a:pt x="0" y="3100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6036903" y="713794"/>
            <a:ext cx="6214194" cy="629811"/>
            <a:chOff x="0" y="0"/>
            <a:chExt cx="1636660" cy="16587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636660" cy="165876"/>
            </a:xfrm>
            <a:custGeom>
              <a:avLst/>
              <a:gdLst/>
              <a:ahLst/>
              <a:cxnLst/>
              <a:rect r="r" b="b" t="t" l="l"/>
              <a:pathLst>
                <a:path h="165876" w="1636660">
                  <a:moveTo>
                    <a:pt x="68521" y="0"/>
                  </a:moveTo>
                  <a:lnTo>
                    <a:pt x="1568139" y="0"/>
                  </a:lnTo>
                  <a:cubicBezTo>
                    <a:pt x="1586312" y="0"/>
                    <a:pt x="1603740" y="7219"/>
                    <a:pt x="1616591" y="20069"/>
                  </a:cubicBezTo>
                  <a:cubicBezTo>
                    <a:pt x="1629441" y="32920"/>
                    <a:pt x="1636660" y="50348"/>
                    <a:pt x="1636660" y="68521"/>
                  </a:cubicBezTo>
                  <a:lnTo>
                    <a:pt x="1636660" y="97355"/>
                  </a:lnTo>
                  <a:cubicBezTo>
                    <a:pt x="1636660" y="115528"/>
                    <a:pt x="1629441" y="132957"/>
                    <a:pt x="1616591" y="145807"/>
                  </a:cubicBezTo>
                  <a:cubicBezTo>
                    <a:pt x="1603740" y="158657"/>
                    <a:pt x="1586312" y="165876"/>
                    <a:pt x="1568139" y="165876"/>
                  </a:cubicBezTo>
                  <a:lnTo>
                    <a:pt x="68521" y="165876"/>
                  </a:lnTo>
                  <a:cubicBezTo>
                    <a:pt x="50348" y="165876"/>
                    <a:pt x="32920" y="158657"/>
                    <a:pt x="20069" y="145807"/>
                  </a:cubicBezTo>
                  <a:cubicBezTo>
                    <a:pt x="7219" y="132957"/>
                    <a:pt x="0" y="115528"/>
                    <a:pt x="0" y="97355"/>
                  </a:cubicBezTo>
                  <a:lnTo>
                    <a:pt x="0" y="68521"/>
                  </a:lnTo>
                  <a:cubicBezTo>
                    <a:pt x="0" y="50348"/>
                    <a:pt x="7219" y="32920"/>
                    <a:pt x="20069" y="20069"/>
                  </a:cubicBezTo>
                  <a:cubicBezTo>
                    <a:pt x="32920" y="7219"/>
                    <a:pt x="50348" y="0"/>
                    <a:pt x="685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7ED7EF">
                    <a:alpha val="100000"/>
                  </a:srgbClr>
                </a:gs>
                <a:gs pos="100000">
                  <a:srgbClr val="B17FD6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66675"/>
              <a:ext cx="1636660" cy="23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8624026" y="830263"/>
            <a:ext cx="1771539" cy="332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95"/>
              </a:lnSpc>
            </a:pP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ARQU</a:t>
            </a:r>
            <a:r>
              <a:rPr lang="en-US" sz="19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ITETURA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212070" y="820738"/>
            <a:ext cx="2074084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INT</a:t>
            </a:r>
            <a:r>
              <a:rPr lang="en-US" sz="19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RODUÇÃO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497847" y="820738"/>
            <a:ext cx="1724675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98"/>
              </a:lnSpc>
            </a:pP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CONCLUSÃ</a:t>
            </a:r>
            <a:r>
              <a:rPr lang="en-US" b="true" sz="1998">
                <a:solidFill>
                  <a:srgbClr val="010032"/>
                </a:solidFill>
                <a:latin typeface="Poppins Bold"/>
                <a:ea typeface="Poppins Bold"/>
                <a:cs typeface="Poppins Bold"/>
                <a:sym typeface="Poppins Bold"/>
              </a:rPr>
              <a:t>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63718" y="8788995"/>
            <a:ext cx="5248352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98"/>
              </a:lnSpc>
              <a:spcBef>
                <a:spcPct val="0"/>
              </a:spcBef>
            </a:pPr>
            <a:r>
              <a:rPr lang="en-US" sz="199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TRABALHO PODE SER ENCONTRADO EM: 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150652" y="8788995"/>
            <a:ext cx="6100445" cy="358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  <a:spcBef>
                <a:spcPct val="0"/>
              </a:spcBef>
            </a:pPr>
            <a:r>
              <a:rPr lang="en-US" sz="1998" u="sng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HTTPS://GITHUB.COM/L-FFS/GRAPH-TOOLBOX.GIT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DAHKVSFS1Ec</dc:identifier>
  <dcterms:modified xsi:type="dcterms:W3CDTF">2011-08-01T06:04:30Z</dcterms:modified>
  <cp:revision>1</cp:revision>
  <dc:title>Trabalho Prático 1: Estruturas de Representação e Algoritmos Básicos</dc:title>
</cp:coreProperties>
</file>